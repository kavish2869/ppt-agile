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7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D98FD34D-B5D3-4F42-930A-EDAE40F78F42}"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98FD34D-B5D3-4F42-930A-EDAE40F78F42}"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D98FD34D-B5D3-4F42-930A-EDAE40F78F42}"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98FD34D-B5D3-4F42-930A-EDAE40F78F42}"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D9EBD37-394C-47E8-A75E-CC1254AC7DD0}" type="datetimeFigureOut">
              <a:rPr lang="en-US" smtClean="0"/>
              <a:t>3/14/2019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98FD34D-B5D3-4F42-930A-EDAE40F78F4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D9EBD37-394C-47E8-A75E-CC1254AC7DD0}" type="datetimeFigureOut">
              <a:rPr lang="en-US" smtClean="0"/>
              <a:t>3/14/2019</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D98FD34D-B5D3-4F42-930A-EDAE40F78F42}"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oftwaretestingmaterial.com/sdlc-software-development-life-cycle/"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fontScale="90000"/>
          </a:bodyPr>
          <a:lstStyle/>
          <a:p>
            <a:r>
              <a:rPr lang="en-US" b="1" u="sng" dirty="0" smtClean="0"/>
              <a:t>Agile Model and Methodology</a:t>
            </a:r>
            <a:endParaRPr lang="en-US" b="1" u="sng" dirty="0"/>
          </a:p>
        </p:txBody>
      </p:sp>
      <p:sp>
        <p:nvSpPr>
          <p:cNvPr id="3" name="Content Placeholder 2"/>
          <p:cNvSpPr>
            <a:spLocks noGrp="1"/>
          </p:cNvSpPr>
          <p:nvPr>
            <p:ph idx="1"/>
          </p:nvPr>
        </p:nvSpPr>
        <p:spPr>
          <a:xfrm>
            <a:off x="1066800" y="4267200"/>
            <a:ext cx="4648200" cy="1981200"/>
          </a:xfrm>
        </p:spPr>
        <p:txBody>
          <a:bodyPr>
            <a:normAutofit fontScale="77500" lnSpcReduction="20000"/>
          </a:bodyPr>
          <a:lstStyle/>
          <a:p>
            <a:r>
              <a:rPr lang="en-US" b="1" i="1" u="sng" dirty="0" smtClean="0">
                <a:solidFill>
                  <a:schemeClr val="accent3"/>
                </a:solidFill>
              </a:rPr>
              <a:t>Presented By:-</a:t>
            </a:r>
            <a:endParaRPr lang="en-US" b="1" i="1" u="sng" dirty="0" smtClean="0">
              <a:solidFill>
                <a:schemeClr val="accent3"/>
              </a:solidFill>
            </a:endParaRPr>
          </a:p>
          <a:p>
            <a:r>
              <a:rPr lang="en-US" dirty="0" smtClean="0"/>
              <a:t>Rajat Nagil</a:t>
            </a:r>
          </a:p>
          <a:p>
            <a:r>
              <a:rPr lang="en-US" dirty="0" err="1" smtClean="0"/>
              <a:t>Ekta</a:t>
            </a:r>
            <a:r>
              <a:rPr lang="en-US" dirty="0" smtClean="0"/>
              <a:t> Sharma</a:t>
            </a:r>
          </a:p>
          <a:p>
            <a:r>
              <a:rPr lang="en-US" dirty="0" err="1" smtClean="0"/>
              <a:t>Kavish</a:t>
            </a:r>
            <a:r>
              <a:rPr lang="en-US" dirty="0" smtClean="0"/>
              <a:t> Sharma</a:t>
            </a:r>
          </a:p>
          <a:p>
            <a:r>
              <a:rPr lang="en-US" dirty="0" err="1" smtClean="0"/>
              <a:t>Simran</a:t>
            </a:r>
            <a:r>
              <a:rPr lang="en-US" dirty="0" smtClean="0"/>
              <a:t> </a:t>
            </a:r>
            <a:r>
              <a:rPr lang="en-US" dirty="0" err="1" smtClean="0"/>
              <a:t>Kaur</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dirty="0" smtClean="0"/>
              <a:t>Agile Technology</a:t>
            </a:r>
            <a:endParaRPr lang="en-US" dirty="0"/>
          </a:p>
        </p:txBody>
      </p:sp>
      <p:sp>
        <p:nvSpPr>
          <p:cNvPr id="3" name="Subtitle 2"/>
          <p:cNvSpPr>
            <a:spLocks noGrp="1"/>
          </p:cNvSpPr>
          <p:nvPr>
            <p:ph type="subTitle" idx="1"/>
          </p:nvPr>
        </p:nvSpPr>
        <p:spPr>
          <a:xfrm>
            <a:off x="609600" y="1752600"/>
            <a:ext cx="3276600" cy="4648200"/>
          </a:xfrm>
        </p:spPr>
        <p:txBody>
          <a:bodyPr>
            <a:normAutofit fontScale="85000" lnSpcReduction="10000"/>
          </a:bodyPr>
          <a:lstStyle/>
          <a:p>
            <a:r>
              <a:rPr lang="en-IN" b="1" dirty="0"/>
              <a:t>Agile Scrum Methodology</a:t>
            </a:r>
            <a:r>
              <a:rPr lang="en-IN" dirty="0"/>
              <a:t> is one of the popular Agile </a:t>
            </a:r>
            <a:r>
              <a:rPr lang="en-IN" u="sng" dirty="0">
                <a:hlinkClick r:id="rId2"/>
              </a:rPr>
              <a:t>software development methods</a:t>
            </a:r>
            <a:r>
              <a:rPr lang="en-IN" dirty="0"/>
              <a:t>. There are some other Agile software development methods but the popular one which is using widely is Agile Scrum Methodology. The Agile Scrum Methodology is a combination of both Incremental and Iterative model for managing product development.</a:t>
            </a:r>
            <a:endParaRPr lang="en-US" dirty="0"/>
          </a:p>
        </p:txBody>
      </p:sp>
      <p:pic>
        <p:nvPicPr>
          <p:cNvPr id="14338" name="Picture 2" descr="Agile Scrum Methodology"/>
          <p:cNvPicPr>
            <a:picLocks noChangeAspect="1" noChangeArrowheads="1"/>
          </p:cNvPicPr>
          <p:nvPr/>
        </p:nvPicPr>
        <p:blipFill>
          <a:blip r:embed="rId3" cstate="print"/>
          <a:srcRect/>
          <a:stretch>
            <a:fillRect/>
          </a:stretch>
        </p:blipFill>
        <p:spPr bwMode="auto">
          <a:xfrm>
            <a:off x="3810000" y="1600200"/>
            <a:ext cx="4876800" cy="4000501"/>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Scrum </a:t>
            </a:r>
            <a:r>
              <a:rPr lang="en-US" b="1" dirty="0" smtClean="0"/>
              <a:t>Master</a:t>
            </a:r>
            <a:endParaRPr lang="en-US" dirty="0"/>
          </a:p>
        </p:txBody>
      </p:sp>
      <p:sp>
        <p:nvSpPr>
          <p:cNvPr id="3" name="Content Placeholder 2"/>
          <p:cNvSpPr>
            <a:spLocks noGrp="1"/>
          </p:cNvSpPr>
          <p:nvPr>
            <p:ph idx="1"/>
          </p:nvPr>
        </p:nvSpPr>
        <p:spPr>
          <a:xfrm>
            <a:off x="1435608" y="1447800"/>
            <a:ext cx="3898392" cy="4800600"/>
          </a:xfrm>
        </p:spPr>
        <p:txBody>
          <a:bodyPr>
            <a:normAutofit fontScale="92500" lnSpcReduction="20000"/>
          </a:bodyPr>
          <a:lstStyle/>
          <a:p>
            <a:r>
              <a:rPr lang="en-IN" dirty="0" smtClean="0"/>
              <a:t>Scrum Master acts as a facilitator to the Scrum Development Team. Clarifies the queries and organizes the team from distractions and teach team how to use scrum and also concentrates on Return on Investment (ROI).</a:t>
            </a:r>
            <a:endParaRPr lang="en-US" dirty="0"/>
          </a:p>
        </p:txBody>
      </p:sp>
      <p:pic>
        <p:nvPicPr>
          <p:cNvPr id="12290" name="Picture 2" descr="Scrum Master"/>
          <p:cNvPicPr>
            <a:picLocks noChangeAspect="1" noChangeArrowheads="1"/>
          </p:cNvPicPr>
          <p:nvPr/>
        </p:nvPicPr>
        <p:blipFill>
          <a:blip r:embed="rId2" cstate="print"/>
          <a:srcRect/>
          <a:stretch>
            <a:fillRect/>
          </a:stretch>
        </p:blipFill>
        <p:spPr bwMode="auto">
          <a:xfrm>
            <a:off x="5715000" y="1600200"/>
            <a:ext cx="2857500" cy="37338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User Stories</a:t>
            </a:r>
            <a:endParaRPr lang="en-US" dirty="0"/>
          </a:p>
        </p:txBody>
      </p:sp>
      <p:sp>
        <p:nvSpPr>
          <p:cNvPr id="3" name="Content Placeholder 2"/>
          <p:cNvSpPr>
            <a:spLocks noGrp="1"/>
          </p:cNvSpPr>
          <p:nvPr>
            <p:ph idx="1"/>
          </p:nvPr>
        </p:nvSpPr>
        <p:spPr>
          <a:xfrm>
            <a:off x="1435608" y="1447800"/>
            <a:ext cx="3822192" cy="4800600"/>
          </a:xfrm>
        </p:spPr>
        <p:txBody>
          <a:bodyPr>
            <a:normAutofit lnSpcReduction="10000"/>
          </a:bodyPr>
          <a:lstStyle/>
          <a:p>
            <a:r>
              <a:rPr lang="en-IN" dirty="0" smtClean="0"/>
              <a:t>User Stories are not like a traditional requirement documents. In User Stories, stake holder mention what features they need and what they want to achieve.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Sprint Planning</a:t>
            </a:r>
            <a:endParaRPr lang="en-US" dirty="0"/>
          </a:p>
        </p:txBody>
      </p:sp>
      <p:sp>
        <p:nvSpPr>
          <p:cNvPr id="3" name="Content Placeholder 2"/>
          <p:cNvSpPr>
            <a:spLocks noGrp="1"/>
          </p:cNvSpPr>
          <p:nvPr>
            <p:ph idx="1"/>
          </p:nvPr>
        </p:nvSpPr>
        <p:spPr/>
        <p:txBody>
          <a:bodyPr/>
          <a:lstStyle/>
          <a:p>
            <a:r>
              <a:rPr lang="en-IN" dirty="0" smtClean="0"/>
              <a:t>Sprint planning is a </a:t>
            </a:r>
            <a:r>
              <a:rPr lang="en-IN" dirty="0" err="1" smtClean="0"/>
              <a:t>timeboxed</a:t>
            </a:r>
            <a:r>
              <a:rPr lang="en-IN" dirty="0" smtClean="0"/>
              <a:t> working session that lasts roughly 1 hour for every week of a sprint.  In sprint planning, the entire team agrees to complete a set of product backlog items.  This agreement defines the sprint backlog and is based on the team’s velocity or capacity and the length of the sprint.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Retrospection</a:t>
            </a:r>
            <a:endParaRPr lang="en-US" dirty="0"/>
          </a:p>
        </p:txBody>
      </p:sp>
      <p:sp>
        <p:nvSpPr>
          <p:cNvPr id="3" name="Content Placeholder 2"/>
          <p:cNvSpPr>
            <a:spLocks noGrp="1"/>
          </p:cNvSpPr>
          <p:nvPr>
            <p:ph idx="1"/>
          </p:nvPr>
        </p:nvSpPr>
        <p:spPr/>
        <p:txBody>
          <a:bodyPr/>
          <a:lstStyle/>
          <a:p>
            <a:r>
              <a:rPr lang="en-IN" dirty="0" smtClean="0"/>
              <a:t>An Agile retrospective is a meeting that's held at the end of an iteration in Agile software development (</a:t>
            </a:r>
            <a:r>
              <a:rPr lang="en-IN" dirty="0" smtClean="0"/>
              <a:t>ASD). </a:t>
            </a:r>
            <a:r>
              <a:rPr lang="en-IN" dirty="0" smtClean="0"/>
              <a:t>During the retrospective, the team reflects on what happened in the iteration and identifies actions for improvement going forward.</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Burndown</a:t>
            </a:r>
            <a:r>
              <a:rPr lang="en-US" dirty="0" smtClean="0"/>
              <a:t> Chart</a:t>
            </a:r>
            <a:endParaRPr lang="en-US" dirty="0"/>
          </a:p>
        </p:txBody>
      </p:sp>
      <p:sp>
        <p:nvSpPr>
          <p:cNvPr id="3" name="Content Placeholder 2"/>
          <p:cNvSpPr>
            <a:spLocks noGrp="1"/>
          </p:cNvSpPr>
          <p:nvPr>
            <p:ph idx="1"/>
          </p:nvPr>
        </p:nvSpPr>
        <p:spPr/>
        <p:txBody>
          <a:bodyPr>
            <a:normAutofit fontScale="92500" lnSpcReduction="20000"/>
          </a:bodyPr>
          <a:lstStyle/>
          <a:p>
            <a:r>
              <a:rPr lang="en-IN" dirty="0" smtClean="0"/>
              <a:t>A </a:t>
            </a:r>
            <a:r>
              <a:rPr lang="en-IN" b="1" dirty="0" smtClean="0"/>
              <a:t>burn down chart</a:t>
            </a:r>
            <a:r>
              <a:rPr lang="en-IN" dirty="0" smtClean="0"/>
              <a:t> is a graphical representation of work left to do versus time. The outstanding work (or backlog) is often on the vertical axis, with time along the horizontal. That is, it is a run chart of outstanding work. It is useful for predicting when all of the work will be completed. It is often used in agile software development methodologies such as Scrum. However, burn down charts can be applied to any project containing measurable progress over time.</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Planning Poker</a:t>
            </a:r>
            <a:endParaRPr lang="en-US" dirty="0"/>
          </a:p>
        </p:txBody>
      </p:sp>
      <p:sp>
        <p:nvSpPr>
          <p:cNvPr id="3" name="Content Placeholder 2"/>
          <p:cNvSpPr>
            <a:spLocks noGrp="1"/>
          </p:cNvSpPr>
          <p:nvPr>
            <p:ph idx="1"/>
          </p:nvPr>
        </p:nvSpPr>
        <p:spPr/>
        <p:txBody>
          <a:bodyPr>
            <a:normAutofit fontScale="85000" lnSpcReduction="10000"/>
          </a:bodyPr>
          <a:lstStyle/>
          <a:p>
            <a:r>
              <a:rPr lang="en-IN" b="1" dirty="0" smtClean="0"/>
              <a:t>Planning poker</a:t>
            </a:r>
            <a:r>
              <a:rPr lang="en-IN" dirty="0" smtClean="0"/>
              <a:t>, also called </a:t>
            </a:r>
            <a:r>
              <a:rPr lang="en-IN" b="1" dirty="0" smtClean="0"/>
              <a:t>Scrum poker</a:t>
            </a:r>
            <a:r>
              <a:rPr lang="en-IN" dirty="0" smtClean="0"/>
              <a:t>, is a consensus-based, </a:t>
            </a:r>
            <a:r>
              <a:rPr lang="en-IN" dirty="0" err="1" smtClean="0"/>
              <a:t>gamified</a:t>
            </a:r>
            <a:r>
              <a:rPr lang="en-IN" dirty="0" smtClean="0"/>
              <a:t> technique for estimating, mostly used to estimate effort or relative size of development goals in software development. In planning poker, members of the group make estimates by playing numbered cards face-down to the table, instead of speaking them aloud. The cards are revealed, and the estimates are then discussed. By hiding the figures in this way, the group can avoid the cognitive bias of </a:t>
            </a:r>
            <a:r>
              <a:rPr lang="en-IN" dirty="0" smtClean="0"/>
              <a:t>anchoring, </a:t>
            </a:r>
            <a:r>
              <a:rPr lang="en-IN" dirty="0" smtClean="0"/>
              <a:t>where the first number spoken aloud sets a precedent for subsequent estimates.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Daily Stand-up</a:t>
            </a:r>
            <a:endParaRPr lang="en-US" dirty="0"/>
          </a:p>
        </p:txBody>
      </p:sp>
      <p:sp>
        <p:nvSpPr>
          <p:cNvPr id="3" name="Content Placeholder 2"/>
          <p:cNvSpPr>
            <a:spLocks noGrp="1"/>
          </p:cNvSpPr>
          <p:nvPr>
            <p:ph idx="1"/>
          </p:nvPr>
        </p:nvSpPr>
        <p:spPr/>
        <p:txBody>
          <a:bodyPr/>
          <a:lstStyle/>
          <a:p>
            <a:r>
              <a:rPr lang="en-IN" dirty="0" smtClean="0"/>
              <a:t>Daily Scrum is also known as Daily Stand-up meeting. Here each team member reports to the peer team member on what he/she did yesterday, what he/she going to do today and what obstacles are </a:t>
            </a:r>
            <a:r>
              <a:rPr lang="en-IN" dirty="0" smtClean="0"/>
              <a:t>impeding </a:t>
            </a:r>
            <a:r>
              <a:rPr lang="en-IN" dirty="0" smtClean="0"/>
              <a:t>in their progress. Reporting will be between peers not to Scrum Master or Product Owner. Daily Scrum will be approximately 15 </a:t>
            </a:r>
            <a:r>
              <a:rPr lang="en-IN" dirty="0" err="1" smtClean="0"/>
              <a:t>mins</a:t>
            </a:r>
            <a:r>
              <a:rPr lang="en-IN" dirty="0" smtClean="0"/>
              <a:t>.</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Scrum Board</a:t>
            </a:r>
            <a:endParaRPr lang="en-US" dirty="0"/>
          </a:p>
        </p:txBody>
      </p:sp>
      <p:sp>
        <p:nvSpPr>
          <p:cNvPr id="3" name="Content Placeholder 2"/>
          <p:cNvSpPr>
            <a:spLocks noGrp="1"/>
          </p:cNvSpPr>
          <p:nvPr>
            <p:ph idx="1"/>
          </p:nvPr>
        </p:nvSpPr>
        <p:spPr/>
        <p:txBody>
          <a:bodyPr/>
          <a:lstStyle/>
          <a:p>
            <a:r>
              <a:rPr lang="en-IN" dirty="0" smtClean="0"/>
              <a:t>In Scrum the task board is a visual display of the progress of the Scrum team during a sprint. It presents a snapshot of the current sprint backlog allowing everyone to see which tasks remain to be started, which are in progress and which are done.</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Kanban</a:t>
            </a:r>
            <a:endParaRPr lang="en-US" dirty="0"/>
          </a:p>
        </p:txBody>
      </p:sp>
      <p:sp>
        <p:nvSpPr>
          <p:cNvPr id="3" name="Content Placeholder 2"/>
          <p:cNvSpPr>
            <a:spLocks noGrp="1"/>
          </p:cNvSpPr>
          <p:nvPr>
            <p:ph idx="1"/>
          </p:nvPr>
        </p:nvSpPr>
        <p:spPr>
          <a:xfrm>
            <a:off x="1435608" y="1447800"/>
            <a:ext cx="7174992" cy="4800600"/>
          </a:xfrm>
        </p:spPr>
        <p:txBody>
          <a:bodyPr>
            <a:normAutofit fontScale="92500" lnSpcReduction="20000"/>
          </a:bodyPr>
          <a:lstStyle/>
          <a:p>
            <a:r>
              <a:rPr lang="en-IN" dirty="0" err="1" smtClean="0"/>
              <a:t>Kanban</a:t>
            </a:r>
            <a:r>
              <a:rPr lang="en-IN" dirty="0" smtClean="0"/>
              <a:t> is an agile methodology that is not necessarily iterative. Processes like Scrum have short iterations which mimic a project lifecycle on a small scale, having a distinct beginning and end for each iteration. </a:t>
            </a:r>
            <a:r>
              <a:rPr lang="en-IN" dirty="0" err="1" smtClean="0"/>
              <a:t>Kanban</a:t>
            </a:r>
            <a:r>
              <a:rPr lang="en-IN" dirty="0" smtClean="0"/>
              <a:t> allows the software be developed in one large development cycle. Despite this, </a:t>
            </a:r>
            <a:r>
              <a:rPr lang="en-IN" dirty="0" err="1" smtClean="0"/>
              <a:t>Kanban</a:t>
            </a:r>
            <a:r>
              <a:rPr lang="en-IN" dirty="0" smtClean="0"/>
              <a:t> is an example of an agile methodology because it fulfils all twelve of the principles behind the Agile manifesto, because </a:t>
            </a:r>
            <a:r>
              <a:rPr lang="en-IN" b="1" dirty="0" smtClean="0"/>
              <a:t>whilst it is not iterative, it is incremental</a:t>
            </a:r>
            <a:r>
              <a:rPr lang="en-IN" dirty="0" smtClean="0"/>
              <a:t>.</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Kanban</a:t>
            </a:r>
            <a:r>
              <a:rPr lang="en-US" dirty="0" smtClean="0"/>
              <a:t>  Process</a:t>
            </a:r>
            <a:endParaRPr lang="en-US" dirty="0"/>
          </a:p>
        </p:txBody>
      </p:sp>
      <p:pic>
        <p:nvPicPr>
          <p:cNvPr id="4" name="Picture 2" descr="https://www.inflectra.com/GraphicsViewer.aspx?url=Methodologies/kanban.xml&amp;name=wordml://03000001.png"/>
          <p:cNvPicPr>
            <a:picLocks noGrp="1" noChangeAspect="1" noChangeArrowheads="1"/>
          </p:cNvPicPr>
          <p:nvPr>
            <p:ph idx="1"/>
          </p:nvPr>
        </p:nvPicPr>
        <p:blipFill>
          <a:blip r:embed="rId2" cstate="print"/>
          <a:srcRect/>
          <a:stretch>
            <a:fillRect/>
          </a:stretch>
        </p:blipFill>
        <p:spPr bwMode="auto">
          <a:xfrm>
            <a:off x="1600200" y="2286000"/>
            <a:ext cx="7028448" cy="3243081"/>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Product Owner</a:t>
            </a:r>
            <a:endParaRPr lang="en-US" dirty="0"/>
          </a:p>
        </p:txBody>
      </p:sp>
      <p:sp>
        <p:nvSpPr>
          <p:cNvPr id="3" name="Content Placeholder 2"/>
          <p:cNvSpPr>
            <a:spLocks noGrp="1"/>
          </p:cNvSpPr>
          <p:nvPr>
            <p:ph idx="1"/>
          </p:nvPr>
        </p:nvSpPr>
        <p:spPr>
          <a:xfrm>
            <a:off x="1435608" y="1447800"/>
            <a:ext cx="3212592" cy="4800600"/>
          </a:xfrm>
        </p:spPr>
        <p:txBody>
          <a:bodyPr>
            <a:normAutofit fontScale="85000" lnSpcReduction="20000"/>
          </a:bodyPr>
          <a:lstStyle/>
          <a:p>
            <a:r>
              <a:rPr lang="en-IN" dirty="0" smtClean="0"/>
              <a:t>Product Owner usually represents the Client and acts as a point of contact from Client side. The one who prioritizes the list of Product Backlogs which Scrum Team should finish and release.</a:t>
            </a:r>
            <a:endParaRPr lang="en-US" dirty="0"/>
          </a:p>
        </p:txBody>
      </p:sp>
      <p:pic>
        <p:nvPicPr>
          <p:cNvPr id="2050" name="Picture 2" descr="Product Backlog"/>
          <p:cNvPicPr>
            <a:picLocks noChangeAspect="1" noChangeArrowheads="1"/>
          </p:cNvPicPr>
          <p:nvPr/>
        </p:nvPicPr>
        <p:blipFill>
          <a:blip r:embed="rId2" cstate="print"/>
          <a:srcRect/>
          <a:stretch>
            <a:fillRect/>
          </a:stretch>
        </p:blipFill>
        <p:spPr bwMode="auto">
          <a:xfrm>
            <a:off x="5181600" y="1447800"/>
            <a:ext cx="3657600" cy="43434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Sprint Backlog</a:t>
            </a:r>
            <a:endParaRPr lang="en-US" dirty="0"/>
          </a:p>
        </p:txBody>
      </p:sp>
      <p:sp>
        <p:nvSpPr>
          <p:cNvPr id="3" name="Content Placeholder 2"/>
          <p:cNvSpPr>
            <a:spLocks noGrp="1"/>
          </p:cNvSpPr>
          <p:nvPr>
            <p:ph idx="1"/>
          </p:nvPr>
        </p:nvSpPr>
        <p:spPr>
          <a:xfrm>
            <a:off x="1435608" y="1447800"/>
            <a:ext cx="3364992" cy="4800600"/>
          </a:xfrm>
        </p:spPr>
        <p:txBody>
          <a:bodyPr>
            <a:normAutofit lnSpcReduction="10000"/>
          </a:bodyPr>
          <a:lstStyle/>
          <a:p>
            <a:r>
              <a:rPr lang="en-IN" dirty="0" smtClean="0"/>
              <a:t>Group of user stories which scrum development team agreed to do during the current sprint (Committed Product Backlog items)</a:t>
            </a:r>
            <a:endParaRPr lang="en-US" dirty="0"/>
          </a:p>
        </p:txBody>
      </p:sp>
      <p:pic>
        <p:nvPicPr>
          <p:cNvPr id="1026" name="Picture 2" descr="Product Backlog Sprint Backlog"/>
          <p:cNvPicPr>
            <a:picLocks noChangeAspect="1" noChangeArrowheads="1"/>
          </p:cNvPicPr>
          <p:nvPr/>
        </p:nvPicPr>
        <p:blipFill>
          <a:blip r:embed="rId2" cstate="print"/>
          <a:srcRect/>
          <a:stretch>
            <a:fillRect/>
          </a:stretch>
        </p:blipFill>
        <p:spPr bwMode="auto">
          <a:xfrm>
            <a:off x="5105400" y="1600200"/>
            <a:ext cx="3429000" cy="39624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Velocity</a:t>
            </a:r>
            <a:endParaRPr lang="en-US" dirty="0"/>
          </a:p>
        </p:txBody>
      </p:sp>
      <p:sp>
        <p:nvSpPr>
          <p:cNvPr id="3" name="Content Placeholder 2"/>
          <p:cNvSpPr>
            <a:spLocks noGrp="1"/>
          </p:cNvSpPr>
          <p:nvPr>
            <p:ph idx="1"/>
          </p:nvPr>
        </p:nvSpPr>
        <p:spPr/>
        <p:txBody>
          <a:bodyPr/>
          <a:lstStyle/>
          <a:p>
            <a:r>
              <a:rPr lang="en-IN" dirty="0" smtClean="0"/>
              <a:t>Velocity is a measure of the amount of work a Team can tackle during a single Sprint and is the key metric in Scrum. Velocity is calculated at the end of the Sprint by </a:t>
            </a:r>
            <a:r>
              <a:rPr lang="en-IN" dirty="0" err="1" smtClean="0"/>
              <a:t>totaling</a:t>
            </a:r>
            <a:r>
              <a:rPr lang="en-IN" dirty="0" smtClean="0"/>
              <a:t> the Points for all fully completed User Stories.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Jira</a:t>
            </a:r>
            <a:endParaRPr lang="en-US" dirty="0"/>
          </a:p>
        </p:txBody>
      </p:sp>
      <p:sp>
        <p:nvSpPr>
          <p:cNvPr id="3" name="Content Placeholder 2"/>
          <p:cNvSpPr>
            <a:spLocks noGrp="1"/>
          </p:cNvSpPr>
          <p:nvPr>
            <p:ph idx="1"/>
          </p:nvPr>
        </p:nvSpPr>
        <p:spPr/>
        <p:txBody>
          <a:bodyPr>
            <a:normAutofit fontScale="92500" lnSpcReduction="20000"/>
          </a:bodyPr>
          <a:lstStyle/>
          <a:p>
            <a:r>
              <a:rPr lang="en-IN" dirty="0" smtClean="0"/>
              <a:t>JIRA is a tool developed by Australian Company </a:t>
            </a:r>
            <a:r>
              <a:rPr lang="en-IN" dirty="0" err="1" smtClean="0"/>
              <a:t>Atlassian</a:t>
            </a:r>
            <a:r>
              <a:rPr lang="en-IN" dirty="0" smtClean="0"/>
              <a:t>. It is used for </a:t>
            </a:r>
            <a:r>
              <a:rPr lang="en-IN" b="1" dirty="0" smtClean="0"/>
              <a:t>bug tracking, issue </a:t>
            </a:r>
            <a:r>
              <a:rPr lang="en-IN" b="1" dirty="0" err="1" smtClean="0"/>
              <a:t>tracking,</a:t>
            </a:r>
            <a:r>
              <a:rPr lang="en-IN" dirty="0" err="1" smtClean="0"/>
              <a:t>and</a:t>
            </a:r>
            <a:r>
              <a:rPr lang="en-IN" dirty="0" smtClean="0"/>
              <a:t> </a:t>
            </a:r>
            <a:r>
              <a:rPr lang="en-IN" b="1" dirty="0" smtClean="0"/>
              <a:t>project management</a:t>
            </a:r>
            <a:r>
              <a:rPr lang="en-IN" dirty="0" smtClean="0"/>
              <a:t>. The name "JIRA" is actually inherited from the Japanese word "</a:t>
            </a:r>
            <a:r>
              <a:rPr lang="en-IN" dirty="0" err="1" smtClean="0"/>
              <a:t>Gojira</a:t>
            </a:r>
            <a:r>
              <a:rPr lang="en-IN" dirty="0" smtClean="0"/>
              <a:t>" which means "Godzilla</a:t>
            </a:r>
            <a:r>
              <a:rPr lang="en-IN" dirty="0" smtClean="0"/>
              <a:t>".</a:t>
            </a:r>
          </a:p>
          <a:p>
            <a:r>
              <a:rPr lang="en-IN" dirty="0" smtClean="0"/>
              <a:t>The basic use of this tool is to track issue and bugs related to your software and </a:t>
            </a:r>
            <a:r>
              <a:rPr lang="en-IN" dirty="0" smtClean="0"/>
              <a:t>Mobile</a:t>
            </a:r>
            <a:r>
              <a:rPr lang="en-IN" dirty="0" smtClean="0"/>
              <a:t> apps. It is also used for project management. The JIRA dashboard consists of many useful functions and features which make handling of issues easy.</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55</TotalTime>
  <Words>299</Words>
  <Application>Microsoft Office PowerPoint</Application>
  <PresentationFormat>On-screen Show (4:3)</PresentationFormat>
  <Paragraphs>36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Solstice</vt:lpstr>
      <vt:lpstr>Agile Model and Methodology</vt:lpstr>
      <vt:lpstr>Agile Technology</vt:lpstr>
      <vt:lpstr>Scrum Master</vt:lpstr>
      <vt:lpstr>User Stories</vt:lpstr>
      <vt:lpstr>Sprint Planning</vt:lpstr>
      <vt:lpstr>Retrospection</vt:lpstr>
      <vt:lpstr>Burndown Chart</vt:lpstr>
      <vt:lpstr>Planning Poker</vt:lpstr>
      <vt:lpstr>Daily Stand-up</vt:lpstr>
      <vt:lpstr>Scrum Board</vt:lpstr>
      <vt:lpstr>Kanban</vt:lpstr>
      <vt:lpstr>Kanban  Process</vt:lpstr>
      <vt:lpstr>Product Owner</vt:lpstr>
      <vt:lpstr>Sprint Backlog</vt:lpstr>
      <vt:lpstr>Velocity</vt:lpstr>
      <vt:lpstr>Jira</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Model and Methodology</dc:title>
  <dc:creator>KAVISH SHARMA</dc:creator>
  <cp:lastModifiedBy>KAVISH SHARMA</cp:lastModifiedBy>
  <cp:revision>1</cp:revision>
  <dcterms:created xsi:type="dcterms:W3CDTF">2019-03-14T18:12:12Z</dcterms:created>
  <dcterms:modified xsi:type="dcterms:W3CDTF">2019-03-14T19:07:47Z</dcterms:modified>
</cp:coreProperties>
</file>